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182879"/>
            <a:ext cx="2560320" cy="2560320"/>
          </a:xfrm>
          <a:prstGeom prst="ellipse">
            <a:avLst/>
          </a:prstGeom>
          <a:solidFill>
            <a:srgbClr val="312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4114800"/>
            <a:ext cx="1828800" cy="1828800"/>
          </a:xfrm>
          <a:prstGeom prst="ellipse">
            <a:avLst/>
          </a:prstGeom>
          <a:solidFill>
            <a:srgbClr val="06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🏨  HOTEL BOOKING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6B6D4"/>
                </a:solidFill>
              </a:rPr>
              <a:t>Comprehensive Business Intelligence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DBFC"/>
                </a:solidFill>
              </a:rPr>
              <a:t>30,000 Hotel Bookings  |  10 US Cities  |  2024–2025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</a:rPr>
              <a:t>Key Observations  •  Root Cause Analysis  •  Business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</a:rPr>
              <a:t>Analysis 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At-a-glance key performance indicators across 30,000 hotel bookings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2743200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904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1109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Total Bookings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94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FDBFC"/>
                </a:solidFill>
              </a:rPr>
              <a:t>2024–2025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1256" y="1417320"/>
            <a:ext cx="2743200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2696" y="14904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20.23%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82696" y="191109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Overall Cancel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2696" y="2194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FDBFC"/>
                </a:solidFill>
              </a:rPr>
              <a:t>6,070 cancelled bookings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417320"/>
            <a:ext cx="2743200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14904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$28,191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191109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Web Channel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194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FDBFC"/>
                </a:solidFill>
              </a:rPr>
              <a:t>Highest avg booking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16568" y="1417320"/>
            <a:ext cx="2743200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4904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27.9%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91109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Travel Agent Cancel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194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FDBFC"/>
                </a:solidFill>
              </a:rPr>
              <a:t>Highest cancellation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788920"/>
            <a:ext cx="2743200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8620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21,672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Confirmed Bookings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5661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FDBFC"/>
                </a:solidFill>
              </a:rPr>
              <a:t>72.2% of all bookings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91256" y="2788920"/>
            <a:ext cx="2743200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82696" y="28620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~4 nights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2696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Avg Stay Length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2696" y="35661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FDBFC"/>
                </a:solidFill>
              </a:rPr>
              <a:t>Consistent across all tiers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3912" y="2788920"/>
            <a:ext cx="2743200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2" y="28620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May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Peak 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35661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FDBFC"/>
                </a:solidFill>
              </a:rPr>
              <a:t>2,910 bookings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16568" y="2788920"/>
            <a:ext cx="2743200" cy="1143000"/>
          </a:xfrm>
          <a:prstGeom prst="rect">
            <a:avLst/>
          </a:prstGeom>
          <a:solidFill>
            <a:srgbClr val="069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8008" y="28620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16.0%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Deluxe Cancel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8008" y="35661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FDBFC"/>
                </a:solidFill>
              </a:rPr>
              <a:t>Lowest cancellation room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160520"/>
            <a:ext cx="11731752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25196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This report analyses 30,000 hotel bookings across 10 major US cities (2024–2025), covering three booking channels, three room types, and hotels rated 2–5 stars. The dataset reveals a 20.23% overall cancellation rate, with Travel Agents driving the highest cancellation (27.9%) while the Web channel delivers the best booking quality (17.6% cancel, $28,191 avg value). Seasonal peaks occur in April–June (summer + weddings); August–September show elevated cancellations (10–11%). Five-star properties carry slightly higher cancellation risk (21.3%) due to price sensitivity, while Deluxe rooms show the strongest guest commitment (16.0%). Recommendations focus on deposit policies, direct-booking loyalty programmes, and dynamic pricing to improve profitability and retention.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Observations – Trends &amp; Patterns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Booking channel dominance, seasonal demand cycles, and their interaction with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📡  Trend 1: Channel Performance Divergence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The three booking channels show dramatically different economics:
• Web Channel (50% share): Highest avg value ($28,191) + lowest cancellation (17.6%)
  → Customers research thoroughly before committing.
• Mobile App (40% share): Mid-range value ($21,351), 21.6% cancel rate.
  → Impulse/deal-driven bookings via push notifications.
• Travel Agents (10% share): $24,454 avg value, but 27.9% cancellation.
  → Agents hold multiple options, leading to high attrition.
Key takeaway: The Web channel is the most valuable segment — 37% lower
cancellation than Travel Agents, 32% higher average booking value than Mobile.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6752" y="1417320"/>
            <a:ext cx="59436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📅  Trend 2: Seasonal Demand Swings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92024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Monthly booking volumes and cancellation rates move inversely:
• Peak bookings (Apr–Jun): 2,221–2,910/month. Cancellation rate is
  remarkably low (0.4–0.6%) — guests are committed to planned trips.
• Post-summer surge (Aug–Sep): Volumes drop to ~1,864–1,920 but
  cancellation rates spike to 10–11% — last-minute plan collapses.
• Winter months (Jan–Feb): Moderate volumes (1,742–1,959), low-mid
  cancellation (7–8%) — post-holiday, deliberate bookings.
• Average booking value is relatively stable ($24K–$27K year-round),
  suggesting price is not the main driver of seasonal variation —
  traveller intent and external factors (school calendars, weather)
  are the primary levers.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Observations – Trends &amp; Patterns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Room type commitment levels, star rating nuances, and cancellation behaviour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5486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🛏️  Trend 3: Room Type &amp; Commitment Levels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• Standard (55.2% of bookings): Cancellation rate 23.3% — budget guests
  have more alternatives; lower switching cost drives higher attrition.
• Deluxe (34.9%): Cancellation rate 16.0% — strongest commitment;
  guests are willing to pay more and see through their plans.
• Suite (9.9%): Cancellation rate 18.0% — premium but moderate.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6752" y="1417320"/>
            <a:ext cx="59436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⭐  Trend 4: Star Rating &amp; Cancellation Nuance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92024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• 2-Star: 19.8% cancel — lowest among all ratings; budget guests less
  likely to have premium alternatives to switch to.
• 3-Star: 20.2%  |  4-Star: 20.0% — near-identical, mid-market stable.
• 5-Star: 21.3% — highest; luxury price sensitivity and broader high-end
  alternatives increase cancellation risk.
• Average stay (~4 nights) is consistent across all star ratings.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4114800"/>
            <a:ext cx="11731752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187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📊  Cancellation Behaviour at a Glance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572000"/>
            <a:ext cx="11548872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0857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60857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60857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Cancel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60857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Avg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08576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Key Driver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864608"/>
            <a:ext cx="11548872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90118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Web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9011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15,001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9011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17.6%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9011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$28,191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901184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High intent, direct research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57216"/>
            <a:ext cx="1154887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19379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Mobile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19379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12,009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19379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21.6%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519379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$21,351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93792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Impulse booking, easy cancellation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449824"/>
            <a:ext cx="11548872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48640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Travel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54864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2,990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4864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27.9%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54864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$24,454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86400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Speculative holds, no deposit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742432"/>
            <a:ext cx="1154887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77900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Standard Room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57790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16,552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7790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23.3%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57790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$25,147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77900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Low switching cost for budget guests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035040"/>
            <a:ext cx="11548872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07161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Deluxe Room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80" y="6071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10,478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6071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16.0%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6071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$25,005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6071616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Higher commitment, curated choice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6327648"/>
            <a:ext cx="1154887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36422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5-Star Property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63642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4,511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0" y="63642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21.3%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63642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$25,117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6364224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Price sensitivity, luxury alternatives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Cancellation rates, booking values, seasonal trends, and stay-length distribution</a:t>
            </a:r>
          </a:p>
        </p:txBody>
      </p:sp>
      <p:pic>
        <p:nvPicPr>
          <p:cNvPr id="7" name="Picture 6" descr="visualiz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25880"/>
            <a:ext cx="1191463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Why do cancellations, channel gaps, and seasonal patterns occur?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749039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🚫  Cancellation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Travel Agents (27.9%): Speculative multi-property holds with no deposit risk; corporate flexible cancellation policies incentivise last-minute changes.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Standard Rooms (23.3%): Budget guests face lower switching costs — identical or cheaper options are always available; no loyalty lock-in.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5-Star Properties (21.3%): High absolute price amplifies sensitivity to any change in travel plans; abundance of luxury competitors in top US cities.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Aug–Sep spike (10–11%): Post-summer plan collapses driven by school calendars, budget exhaustion, and weather uncertainty.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17320"/>
            <a:ext cx="3749039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</a:rPr>
              <a:t>📡  Channel Performance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38528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Web superiority: Direct booking = high intentionality. Customers compare, research, and decide deliberately — 'booker's commitment' is highest.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Mobile App underperformance: Push-notification flash deals attract price-sensitive, impulsive bookers who cancel when better prices emerge.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Travel Agent structurally weak: Agents are paid per booking, not per stay. No financial penalty for cancellations means zero deterrent to over-booking.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Avg markup is similar across channels (~$6,930–$6,985), so revenue loss from Travel Agent cancellations is not offset by higher margins.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3749039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08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📅  Seasonal &amp; Temporal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38528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Apr–Jun peak: Summer vacation planning + US wedding season creates committed forward bookings; cancellation rate drops to &lt;1% — these guests are locked in.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Aug–Sep trough: School year restart, family budget exhaustion, and weather shifts cause last-minute trip abandonment — a structural, recurring pattern.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Stable stay length (~4 nights) across ALL star ratings suggests trip purpose (not property tier) drives duration — segment marketing accordingly.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</a:rPr>
              <a:t>▸  Avg booking value stable year-round ($24K–$27K): Seasonality affects volume and commitment, not willingness-to-pay per booking.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Business Recommendations – Reduce Cancellations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Targeted policies to cut the 20.23% cancellation rate by 15–20%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1173175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🏢  Travel Agent Channel (Priority 1 – Immediate)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✔  Require 25% non-refundable deposit for all agent-originated bookings.</a:t>
            </a:r>
          </a:p>
          <a:p>
            <a:r>
              <a:rPr sz="950">
                <a:solidFill>
                  <a:srgbClr val="475569"/>
                </a:solidFill>
              </a:rPr>
              <a:t>✔  Implement agent performance scorecards — completion rate &lt; 75% triggers commission tier demotion.</a:t>
            </a:r>
          </a:p>
          <a:p>
            <a:r>
              <a:rPr sz="950">
                <a:solidFill>
                  <a:srgbClr val="475569"/>
                </a:solidFill>
              </a:rPr>
              <a:t>✔  'Verified Booking' protocol: agents must provide customer contact for confirmation call within 48 hrs.</a:t>
            </a:r>
          </a:p>
          <a:p>
            <a:r>
              <a:rPr sz="950">
                <a:solidFill>
                  <a:srgbClr val="475569"/>
                </a:solidFill>
              </a:rPr>
              <a:t>✔  Offer agents a 'completion bonus' ($50/booking) to incentivise follow-through over cancellations.</a:t>
            </a:r>
          </a:p>
          <a:p>
            <a:r>
              <a:rPr sz="950">
                <a:solidFill>
                  <a:srgbClr val="475569"/>
                </a:solidFill>
              </a:rPr>
              <a:t>✔  Expected impact: 8–12% reduction in Travel Agent cancellations.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200400"/>
            <a:ext cx="1173175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291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🛏️  Standard Room Segment (Priority 2 – 4 Weeks)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43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✔  'Flex-Date Credits': instead of cancelling, guests receive a 6-month credit — reduces refunds.</a:t>
            </a:r>
          </a:p>
          <a:p>
            <a:r>
              <a:rPr sz="950">
                <a:solidFill>
                  <a:srgbClr val="475569"/>
                </a:solidFill>
              </a:rPr>
              <a:t>✔  Complimentary room upgrade (Standard → Deluxe) when guest accepts date change instead of cancellation.</a:t>
            </a:r>
          </a:p>
          <a:p>
            <a:r>
              <a:rPr sz="950">
                <a:solidFill>
                  <a:srgbClr val="475569"/>
                </a:solidFill>
              </a:rPr>
              <a:t>✔  Trip insurance upsell at checkout: 'Cancel for Any Reason' at 3% of booking value.</a:t>
            </a:r>
          </a:p>
          <a:p>
            <a:r>
              <a:rPr sz="950">
                <a:solidFill>
                  <a:srgbClr val="475569"/>
                </a:solidFill>
              </a:rPr>
              <a:t>✔  Send 48-hr pre-arrival reminder with value-add (restaurant coupon) to reinforce commitment.</a:t>
            </a:r>
          </a:p>
          <a:p>
            <a:r>
              <a:rPr sz="950">
                <a:solidFill>
                  <a:srgbClr val="475569"/>
                </a:solidFill>
              </a:rPr>
              <a:t>✔  Expected impact: 5–7% reduction in Standard room cancellations.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4937760"/>
            <a:ext cx="1173175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029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</a:rPr>
              <a:t>📅  Seasonal Intervention (Priority 3 – Before Aug/Sep)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94960"/>
            <a:ext cx="1143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✔  For bookings with check-in in Aug–Sep, offer early 'lock-in incentive' (free breakfast if not cancelled).</a:t>
            </a:r>
          </a:p>
          <a:p>
            <a:r>
              <a:rPr sz="950">
                <a:solidFill>
                  <a:srgbClr val="475569"/>
                </a:solidFill>
              </a:rPr>
              <a:t>✔  Stricter cancellation windows during Aug–Sep: non-refundable 14 days before check-in vs 3 days year-round.</a:t>
            </a:r>
          </a:p>
          <a:p>
            <a:r>
              <a:rPr sz="950">
                <a:solidFill>
                  <a:srgbClr val="475569"/>
                </a:solidFill>
              </a:rPr>
              <a:t>✔  Mobile App: Proactive 'Trip Confirmation' push at T-30 days to confirm travel plans.</a:t>
            </a:r>
          </a:p>
          <a:p>
            <a:r>
              <a:rPr sz="950">
                <a:solidFill>
                  <a:srgbClr val="475569"/>
                </a:solidFill>
              </a:rPr>
              <a:t>✔  Cross-sell travel insurance via Mobile App channel specifically for high-cancel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Business Recommendations – Profitability &amp; Repeat Bookings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Strategies to increase direct revenue, customer lifetime value, and retention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56692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📲  Direct Booking Loyalty 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✔  Launch 'Book Direct Rewards': 10% instant discount + loyalty points for Web channel bookings.</a:t>
            </a:r>
          </a:p>
          <a:p>
            <a:r>
              <a:rPr sz="950">
                <a:solidFill>
                  <a:srgbClr val="475569"/>
                </a:solidFill>
              </a:rPr>
              <a:t>✔  Points earn: 1 point per $10 spent; 500 points = 1 free night (drives repeat stays).</a:t>
            </a:r>
          </a:p>
          <a:p>
            <a:r>
              <a:rPr sz="950">
                <a:solidFill>
                  <a:srgbClr val="475569"/>
                </a:solidFill>
              </a:rPr>
              <a:t>✔  Exclusive perks for direct bookers: late checkout, free WiFi, F&amp;B credit ($25).</a:t>
            </a:r>
          </a:p>
          <a:p>
            <a:r>
              <a:rPr sz="950">
                <a:solidFill>
                  <a:srgbClr val="475569"/>
                </a:solidFill>
              </a:rPr>
              <a:t>✔  Run 'Book Direct' awareness campaign across email + social media targeting past guests.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4023360"/>
            <a:ext cx="56692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🔄  Post-Stay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✔  Personalised rebooking offer within 24 hours of checkout: 15% off same property.</a:t>
            </a:r>
          </a:p>
          <a:p>
            <a:r>
              <a:rPr sz="950">
                <a:solidFill>
                  <a:srgbClr val="475569"/>
                </a:solidFill>
              </a:rPr>
              <a:t>✔  Birthday/anniversary recognition: room upgrade offer 30 days before special dates.</a:t>
            </a:r>
          </a:p>
          <a:p>
            <a:r>
              <a:rPr sz="950">
                <a:solidFill>
                  <a:srgbClr val="475569"/>
                </a:solidFill>
              </a:rPr>
              <a:t>✔  Milestone loyalty rewards: 3rd stay (room upgrade), 5th stay (free night), 10th (VIP status).</a:t>
            </a:r>
          </a:p>
          <a:p>
            <a:r>
              <a:rPr sz="950">
                <a:solidFill>
                  <a:srgbClr val="475569"/>
                </a:solidFill>
              </a:rPr>
              <a:t>✔  NPS survey post-stay; high-score guests get referral programme invitation.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463040"/>
            <a:ext cx="56692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554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</a:rPr>
              <a:t>📈  Revenue Per Booking 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2024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✔  Upsell Deluxe/Suite at check-in for Standard room guests (targeted via Mobile App).</a:t>
            </a:r>
          </a:p>
          <a:p>
            <a:r>
              <a:rPr sz="950">
                <a:solidFill>
                  <a:srgbClr val="475569"/>
                </a:solidFill>
              </a:rPr>
              <a:t>✔  Bundle packages: Room + Breakfast ($15 add-on), Room + Airport Transfer, Room + Spa.</a:t>
            </a:r>
          </a:p>
          <a:p>
            <a:r>
              <a:rPr sz="950">
                <a:solidFill>
                  <a:srgbClr val="475569"/>
                </a:solidFill>
              </a:rPr>
              <a:t>✔  Minimum-stay upsell: 'Book 3 nights, save 12%' for stays that would otherwise be 1–2 nights.</a:t>
            </a:r>
          </a:p>
          <a:p>
            <a:r>
              <a:rPr sz="950">
                <a:solidFill>
                  <a:srgbClr val="475569"/>
                </a:solidFill>
              </a:rPr>
              <a:t>✔  Target repeat guests with higher-tier room offers based on their last stay preferences.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4023360"/>
            <a:ext cx="56692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4114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</a:rPr>
              <a:t>🏢  Channel Revenue Mix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4805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✔  Shift 5% of Travel Agent share to Web channel (saves cancellation losses + increases avg value).</a:t>
            </a:r>
          </a:p>
          <a:p>
            <a:r>
              <a:rPr sz="950">
                <a:solidFill>
                  <a:srgbClr val="475569"/>
                </a:solidFill>
              </a:rPr>
              <a:t>✔  Reduce OTA dependency by investing in Web channel SEO and PPC campaigns.</a:t>
            </a:r>
          </a:p>
          <a:p>
            <a:r>
              <a:rPr sz="950">
                <a:solidFill>
                  <a:srgbClr val="475569"/>
                </a:solidFill>
              </a:rPr>
              <a:t>✔  For Mobile App: shift from deal-focused to experience-focused marketing to raise avg value.</a:t>
            </a:r>
          </a:p>
          <a:p>
            <a:r>
              <a:rPr sz="950">
                <a:solidFill>
                  <a:srgbClr val="475569"/>
                </a:solidFill>
              </a:rPr>
              <a:t>✔  Track channel contribution margin, not just revenue — factor in cancellation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Business Recommendations – Pricing, Promotions &amp; Channel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Optimise revenue yield through dynamic pricing and segment-specific promotions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</a:rPr>
              <a:t>🌐  Web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Premium positioning &amp; exclusivity.
• Price parity + exclusive perks (late checkout, F&amp;B credit)
• 'Best Rate Guarantee' to prevent OTA leakage
• Enhanced UX: one-click rebooking for returning guests
• Retargeting ads for cart-abandoned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1732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</a:rPr>
              <a:t>📱  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Flash sales &amp; last-minute deals.
• 18-hour flash sales via push notifications (mobile-exclusive)
• Progressive discount: book within 1hr → extra 5% off
• Gamified check-in streaks and app-only loyalty points
• AI-driven 'Best Deals Near You' personalisation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08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🤝  Travel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Volume-based commission reform.
• Tiered commissions: 8% (base), 12% (50+/month), 15% (100+/month)
• Commission tied to stay completion, not just booking
• Quarterly agent performance review and ranking
• Co-marketing budget for top-performing 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931920"/>
            <a:ext cx="566928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🎯  Seasonal Promotions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3484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• Apr–Jun (Peak): 'Early Bird Summer' — 15% off for 60+ day advance bookings.
  Minimum 2-night stay requirement to maximise occupancy yield.
• Aug–Sep (High Cancel): 'Trip Protection Bundle' — book with trip insurance;
  offer 'rebook, don't cancel' credits valid 9 months.
• Feb (Slow): 'Valentines &amp; Beyond' — couples packages, extended stay promo
  (stay 4 nights, 5th free) to stimulate demand.
• Oct–Dec (Steady): 'Holiday Countdown' early access for loyalty members.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931920"/>
            <a:ext cx="566928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023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⚙️  Dynamic Pricing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43484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• Real-time rate adjustment based on 30/60/90-day occupancy forecasts.
• Competitor rate benchmarking: auto-match or undercut by ≤3% when
  occupancy is below 70% with 30+ days to check-in.
• Last-minute pricing (&lt; 7 days): Mobile App exclusive discounts (up to 20%)
  to fill unsold inventory without devaluing brand on main channels.
• Peak period floor prices: Set minimum rates during Apr–Jun to protect
  revenue when demand is inelastic.
• Room-type-specific pricing: Deluxe/Suite premium to reflect lower
  cancellation risk and higher perceived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Implementation Roadmap &amp; Expected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Phased execution plan with measurable KPI targets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274320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Immediate
(0–4 Weeks)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93392"/>
            <a:ext cx="27432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2084831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Agent deposit requirement (25% non-refundable)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743200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Post-stay email campaign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40156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'Flex-Date Credits' for Standard room cancellations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4059935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Aug/Sep trip insurance upsell activation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9544" y="1417320"/>
            <a:ext cx="27432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1444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0984" y="1691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Short-term
(1–3 Months)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9544" y="1993392"/>
            <a:ext cx="27432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9272" y="2084831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Book Direct Rewards loyalty programme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2743200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Mobile App flash sale system (18-hr windows)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340156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Agent performance scorecard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4059935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Early-bird summer packages (Apr–Jun)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1417320"/>
            <a:ext cx="27432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7" y="1444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7" y="1691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Mid-term
(3–6 Months)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0488" y="1993392"/>
            <a:ext cx="27432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2084831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Dynamic pricing engine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743200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Bundle package creation (room + add-ons)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340156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Mobile App personalisation (AI recommendations)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4059935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NPS + referral programme rollout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71432" y="1417320"/>
            <a:ext cx="27432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1444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1691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Long-term
(6–12 Months)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71432" y="1993392"/>
            <a:ext cx="27432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84831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Full loyalty milestone reward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9" y="2743200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Agent commission tier restructure complete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59" y="340156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Competitor benchmarking + automated repricing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59" y="4059935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✔  Cross-channel analytics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5029200"/>
            <a:ext cx="11731752" cy="160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08406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EXPECTED IMPACT AFTER FULL IMPLEMENTATION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</a:rPr>
              <a:t>15–20%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253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DBFC"/>
                </a:solidFill>
              </a:rPr>
              <a:t>Reduction in
Overall Cancellation 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4589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</a:rPr>
              <a:t>10–15%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9253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DBFC"/>
                </a:solidFill>
              </a:rPr>
              <a:t>Increase in
Direct (Web) Bookings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4589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</a:rPr>
              <a:t>8–12%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9253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DBFC"/>
                </a:solidFill>
              </a:rPr>
              <a:t>Improvement in
Avg Booking Value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54589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</a:rPr>
              <a:t>25%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59253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DBFC"/>
                </a:solidFill>
              </a:rPr>
              <a:t>Increase in
Repeat Customer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Conclusion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This analysis of 30,000 hotel bookings across 10 US cities reveals a clear strategic opportunity:
The 20.23% cancellation rate — costing millions in lost revenue and operational disruption — is largely driven by structural weaknesses in the Travel Agent channel (27.9%), low-commitment Standard room bookings (23.3%), and a recurring August–September cancellation spike (10–11%).
The Web channel, despite commanding only 50% of bookings, is the gold standard: lowest cancellation (17.6%), highest booking value ($28,191), and strongest guest commitment. Growing this channel is the single highest-ROI action.
The four-phase roadmap — from immediate agent deposit policies to long-term dynamic pricing — provides a structured path to 15–20% cancellation reduction, 10–15% direct booking growth, and a 25% repeat customer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</a:rPr>
              <a:t>Immediate Next Step: Implement Travel Agent deposit requirement and Book Direct Rewards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</a:rPr>
              <a:t>Hotel Booking Analysis  |  30,000 Bookings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